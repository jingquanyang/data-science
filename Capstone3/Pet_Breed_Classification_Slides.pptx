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 Accuracy (%)</c:v>
                </c:pt>
              </c:strCache>
            </c:strRef>
          </c:tx>
          <c:spPr>
            <a:solidFill>
              <a:srgbClr val="1A2E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E2E8F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E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2E4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A2E4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A2E4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A2E4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A2E4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Ep 1</c:v>
                  </c:pt>
                  <c:pt idx="1">
                    <c:v>Ep 2</c:v>
                  </c:pt>
                  <c:pt idx="2">
                    <c:v>Ep 3</c:v>
                  </c:pt>
                  <c:pt idx="3">
                    <c:v>Ep 4</c:v>
                  </c:pt>
                  <c:pt idx="4">
                    <c:v>Ep 5★</c:v>
                  </c:pt>
                  <c:pt idx="5">
                    <c:v>Ep 6</c:v>
                  </c:pt>
                  <c:pt idx="6">
                    <c:v>Ep 7</c:v>
                  </c:pt>
                  <c:pt idx="7">
                    <c:v>Ep 8★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86.01</c:v>
                </c:pt>
                <c:pt idx="1">
                  <c:v>88.86</c:v>
                </c:pt>
                <c:pt idx="2">
                  <c:v>90.49</c:v>
                </c:pt>
                <c:pt idx="3">
                  <c:v>90.49</c:v>
                </c:pt>
                <c:pt idx="4">
                  <c:v>92.26</c:v>
                </c:pt>
                <c:pt idx="5">
                  <c:v>91.71</c:v>
                </c:pt>
                <c:pt idx="6">
                  <c:v>90.62</c:v>
                </c:pt>
                <c:pt idx="7">
                  <c:v>92.26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E2E8F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84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2E4A"/>
        </a:solidFill>
        <a:ln>
          <a:noFill/>
        </a:ln>
        <a:effectLst/>
      </c:spPr>
    </c:plotArea>
    <c:plotVisOnly val="1"/>
    <c:dispBlanksAs val="span"/>
  </c:chart>
  <c:spPr>
    <a:solidFill>
      <a:srgbClr val="1A2E4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109728" cy="109728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" y="320040"/>
            <a:ext cx="109728" cy="109728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52144" y="320040"/>
            <a:ext cx="109728" cy="109728"/>
          </a:xfrm>
          <a:prstGeom prst="ellipse">
            <a:avLst/>
          </a:prstGeom>
          <a:solidFill>
            <a:srgbClr val="38BDF8">
              <a:alpha val="70000"/>
            </a:srgbClr>
          </a:solidFill>
          <a:ln w="1270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9616" y="320040"/>
            <a:ext cx="109728" cy="109728"/>
          </a:xfrm>
          <a:prstGeom prst="ellipse">
            <a:avLst/>
          </a:prstGeom>
          <a:solidFill>
            <a:srgbClr val="38BDF8">
              <a:alpha val="55000"/>
            </a:srgbClr>
          </a:solidFill>
          <a:ln w="1270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47088" y="320040"/>
            <a:ext cx="109728" cy="109728"/>
          </a:xfrm>
          <a:prstGeom prst="ellipse">
            <a:avLst/>
          </a:prstGeom>
          <a:solidFill>
            <a:srgbClr val="38BDF8">
              <a:alpha val="40000"/>
            </a:srgbClr>
          </a:solidFill>
          <a:ln w="12700">
            <a:solidFill>
              <a:srgbClr val="38BDF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731520"/>
            <a:ext cx="2926080" cy="292608"/>
          </a:xfrm>
          <a:prstGeom prst="rect">
            <a:avLst/>
          </a:prstGeom>
          <a:solidFill>
            <a:srgbClr val="38BDF8">
              <a:alpha val="2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731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38BDF8"/>
                </a:solidFill>
              </a:rPr>
              <a:t>CAPSTONE PROJECT  ·  DEEP LEARNING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57200" y="11887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Breed Classification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Transfer Learning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1148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7,349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72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Images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10312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Breeds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880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74904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Test Accuracy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371600"/>
            <a:ext cx="25603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Oxford-IIIT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 Dataset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29260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Jingquan Yang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10B981"/>
                </a:solidFill>
              </a:rPr>
              <a:t>AGENDA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41148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50876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911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Why breed classification is hard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1148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51460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5146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EDA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916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7,349 images, 37 breeds, balance analysis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520440"/>
            <a:ext cx="41148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52044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520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&amp; Methodology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9227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Baseline vs. deep learning pipeline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508760"/>
            <a:ext cx="41148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50876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5087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49240" y="15544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191109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Training curves, 88.03% test accuracy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14600"/>
            <a:ext cx="41148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51460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5146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2560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49240" y="2916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What the data story tells us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3520440"/>
            <a:ext cx="4114800" cy="7772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3520440"/>
            <a:ext cx="502920" cy="7772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5204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49240" y="35661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49240" y="39227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3 concrete actions for the client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01  ·  PROBLEM STATEMENT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Breed Classification Hard?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51760" cy="3108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Visual Differences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breeds differ in subtle features: coat texture, ear shape, facial structure — not just cat vs. dog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51760" cy="3108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3756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Within-Breed Variation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29718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Lighting, pose, and background clutter make the same breed look vastly different across images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417320"/>
            <a:ext cx="2651760" cy="310896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417320"/>
            <a:ext cx="265176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600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172200" y="23317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the Problem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971800"/>
            <a:ext cx="2377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7,349 images across 37 classes requires a model that generalizes, not memorizes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</a:rPr>
              <a:t>Central Question: Can a pre-trained CNN be fine-tuned to achieve strong breed accuracy — and how does it compare to traditional approaches?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02  ·  DATASET &amp; EDA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Oxford-IIIT Pet Dataset Overview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9202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19202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7,349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Total Images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41448" y="1325880"/>
            <a:ext cx="19202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41448" y="1325880"/>
            <a:ext cx="192024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41448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3,680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441448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Training Set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62856" y="1325880"/>
            <a:ext cx="19202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62856" y="1325880"/>
            <a:ext cx="19202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3,669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562856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Test Set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84264" y="1325880"/>
            <a:ext cx="1920240" cy="10058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84264" y="1325880"/>
            <a:ext cx="192024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1417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1.09×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684264" y="19202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Imbalance Ratio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Breakdown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2880360"/>
            <a:ext cx="86868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88036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🐕 Dogs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207008" y="2880360"/>
            <a:ext cx="260604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>
                <a:alpha val="8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07008" y="288036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4,978  (67.7%)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383280"/>
            <a:ext cx="868680" cy="4114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383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1B2D"/>
                </a:solidFill>
              </a:rPr>
              <a:t>🐱 Cats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207008" y="3383280"/>
            <a:ext cx="1261872" cy="411480"/>
          </a:xfrm>
          <a:prstGeom prst="rect">
            <a:avLst/>
          </a:prstGeom>
          <a:solidFill>
            <a:srgbClr val="38BDF8">
              <a:alpha val="80000"/>
            </a:srgbClr>
          </a:solidFill>
          <a:ln w="12700">
            <a:solidFill>
              <a:srgbClr val="38BDF8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07008" y="338328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B2D"/>
                </a:solidFill>
              </a:rPr>
              <a:t>2,371  (32.3%)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5146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0" y="2880360"/>
            <a:ext cx="4206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missing images or train/test overlap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Max per-breed proportion gap &lt; 0.003 (well-split)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123 brightness outliers (kept — real variation)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Trimap coverage: 100%  ·  XML coverage: ~50%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03  ·  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Modeling Approach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023360" cy="3474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02336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</a:rPr>
              <a:t>STAGE 1 — BASELINE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handcrafted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Width, height, aspect ratio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Brightness, contrast, RGB means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strength, pet area ratio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3566160" cy="594360"/>
          </a:xfrm>
          <a:prstGeom prst="rect">
            <a:avLst/>
          </a:prstGeom>
          <a:solidFill>
            <a:srgbClr val="3D1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9.46%  ❌  Severe Overfitting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07408" y="2743200"/>
            <a:ext cx="329184" cy="0"/>
          </a:xfrm>
          <a:prstGeom prst="line">
            <a:avLst/>
          </a:prstGeom>
          <a:noFill/>
          <a:ln w="254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8BDF8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800600" y="1325880"/>
            <a:ext cx="4023360" cy="347472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325880"/>
            <a:ext cx="4023360" cy="640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</a:rPr>
              <a:t>STAGE 2 — FINAL MODEL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 Fine-Tuned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937760" y="228600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pretrained weights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layer replaced: 512 → 37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 ·  lr = 1e-4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epochs  ·  stratified 80/20 split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flip + color jitter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3931920"/>
            <a:ext cx="3566160" cy="59436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9319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88.03%  ✓  Strong Generalization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8BDF8"/>
                </a:solidFill>
              </a:rPr>
              <a:t>04  · 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History — ResNet-18</a:t>
            </a:r>
            <a:endParaRPr lang="en-US" sz="3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20040" y="1325880"/>
          <a:ext cx="51206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6634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8BDF8"/>
                </a:solidFill>
              </a:rPr>
              <a:t>★ Best checkpoint (val_acc = 92.26%)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325880"/>
          <a:ext cx="3200400" cy="3520440"/>
        </p:xfrm>
        <a:graphic>
          <a:graphicData uri="http://schemas.openxmlformats.org/drawingml/2006/table">
            <a:tbl>
              <a:tblPr/>
              <a:tblGrid>
                <a:gridCol w="548640"/>
                <a:gridCol w="822960"/>
                <a:gridCol w="868680"/>
                <a:gridCol w="868680"/>
              </a:tblGrid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BDF8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1.8164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86.01%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0.2556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98.98%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99.66%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99.76%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A"/>
                    </a:solidFill>
                  </a:tcPr>
                </a:tc>
              </a:tr>
              <a:tr h="391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8BD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92.26%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A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</a:rPr>
              <a:t>05  ·  KEY FINDINGS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Story Tells 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4160520" cy="201168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325880"/>
            <a:ext cx="4160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Model Accuracy Comparison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9.46%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Random Forest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8288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1810512"/>
            <a:ext cx="1691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88.03%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651760" y="2450592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ResNet-18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926080"/>
            <a:ext cx="4160520" cy="320040"/>
          </a:xfrm>
          <a:prstGeom prst="rect">
            <a:avLst/>
          </a:prstGeom>
          <a:solidFill>
            <a:srgbClr val="0A2E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92608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+78.57 percentage points improvement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20116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325880"/>
            <a:ext cx="54864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35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8BDF8"/>
                </a:solidFill>
              </a:rPr>
              <a:t>F1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709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 of 1.09 means accuracy is a fair metric — no class weighting needed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0" y="1325880"/>
            <a:ext cx="20116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325880"/>
            <a:ext cx="54864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435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</a:rPr>
              <a:t>F2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49440" y="17099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Overfitting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10312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train vs. 92% val accuracy suggests room for dropout or weight decay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3246120"/>
            <a:ext cx="20116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246120"/>
            <a:ext cx="54864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0B981"/>
                </a:solidFill>
              </a:rPr>
              <a:t>F3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Splits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23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per-breed proportion gap &lt; 0.003 confirms evaluation is trustworthy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3246120"/>
            <a:ext cx="2011680" cy="169164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3246120"/>
            <a:ext cx="54864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0" y="33558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78BFA"/>
                </a:solidFill>
              </a:rPr>
              <a:t>F4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49440" y="36301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Convergence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49440" y="4023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reached 90%+ by epoch 3 — pretrained weights transfer well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</a:rPr>
              <a:t>06  ·  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Actions for the Client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241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594360" cy="10241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594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417320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ResNet-18 as a Production Breed Identifier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76479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accuracy on 37 breeds is production-ready. Wrap in a FastAPI + Docker REST endpoint to power pet adoption platforms, vet intake systems, or mobile apps. Runs on CPU in &lt; 1 second per image.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496312"/>
            <a:ext cx="8503920" cy="10241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496312"/>
            <a:ext cx="594360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496312"/>
            <a:ext cx="594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587752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GPU Training for a Better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93522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on CPU limited experimentation. A single cloud GPU (e.g., Google Colab T4) enables ResNet-50 or EfficientNet-B2 with 20+ epochs — a realistic path to &gt;93% test accuracy.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3666744"/>
            <a:ext cx="8503920" cy="1024128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3666744"/>
            <a:ext cx="594360" cy="10241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666744"/>
            <a:ext cx="5943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3758184"/>
            <a:ext cx="7589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to Shelter &amp; Veterinary Intake Workflows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10565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manually record breed for thousands of animals annually. Automated classification reduces manual effort, improves breed data quality, and enables breed-specific care recommendations at minimal cost.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64592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65760" y="2286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</a:rPr>
              <a:t>Project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7,349 images  ·  37 breeds  ·  balanced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(RF): 9.46%  vs.  ResNet-18: 88.03%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accuracy: 92.26% at epoch 5 &amp; 8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+78.57 pp improvement through transfer learning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126480" y="548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</a:rPr>
              <a:t>Deliverables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0" y="10058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📄  Final Report PDF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📊  Model Metrics CSV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651760"/>
            <a:ext cx="265176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26517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📓  Jupyter Notebook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solidFill>
            <a:srgbClr val="1628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34747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📋  README.md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75488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Jingquan Yang  ·  Springboard Data Science Capstone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Oxford-IIIT Pet Breed Classification</dc:title>
  <dc:subject>PptxGenJS Presentation</dc:subject>
  <dc:creator>PptxGenJS</dc:creator>
  <cp:lastModifiedBy>PptxGenJS</cp:lastModifiedBy>
  <cp:revision>1</cp:revision>
  <dcterms:created xsi:type="dcterms:W3CDTF">2026-03-25T17:12:26Z</dcterms:created>
  <dcterms:modified xsi:type="dcterms:W3CDTF">2026-03-25T17:12:26Z</dcterms:modified>
</cp:coreProperties>
</file>